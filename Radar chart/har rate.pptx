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23B2D-6709-9053-F014-7803344D7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ADB169-1894-D3E6-C2E3-F84422FB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CB81D7-F3B6-1EDB-21CE-23811D22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A93109-7044-1839-B3E7-B18DAF1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C0E1F-AEBA-27B0-9DD5-7AB79552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24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AA20F-DFC8-6B39-5FE5-27C42E81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2E41B-FF57-17F4-E67B-F5A93FAA5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F9DCD-4023-0D0E-B548-D97A7622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C10029-EE5C-AEB9-3CF3-3F4BA4B7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B8CCE-5F39-399F-3566-0F94C324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2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579AF-DDC5-E36F-357D-505293F0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973A20-5EC0-A459-63A6-4384BC320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9EA76-9AF6-5A57-0409-63CF3316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D1A2A-D001-7E88-B877-69272D724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009C37-E345-FA07-20AC-94AD6524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2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16C9F-DF1F-E91D-4243-EF6DE779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663070-A550-B226-26A3-D36D04E69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8BA98B-01B6-56DF-33CD-D1E87C041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DA522D-137E-FF65-AD3F-66A1826C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2E53F4-D00A-7B7D-4628-82216C5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16A990-6057-147E-DC00-0106C957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08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41F74-7388-F898-22BE-AEBE6740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BD30D-3B1B-6240-6DDB-DD538BB66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4DDEAB-15CB-D77F-1B2F-49F61A51E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DD4758-4182-8B74-87F2-EBDAC8177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A78986-CB48-FFFD-7A01-24D1E654C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149A7D-DCEE-F6CC-3223-717151DC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424A61-DD07-1A8D-3B32-1A443B17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92EF1B-F259-7512-3E29-9D2A7E1F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11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450C5-BE98-6679-75B1-CED7959D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A543EA-8C68-27A2-34B2-80C5ED6F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5061EC-DFB9-0E6F-6531-CEE44F189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224EE1-D867-96CC-041E-D5FBF5C1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67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1312B3-1C9A-0E52-3840-4994D74D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2DF878-9033-81E0-4843-FBD69E4F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2FBA88-43AB-DEBA-CCBE-D9767F4E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32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5C9AF-0D1B-58C2-8EC8-A19217E6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CDF66-3659-D236-1DBF-F3B61DD7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78393C-6E25-2B78-44B1-0E9EEA4FE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465668-2A76-7A05-4F13-C3E6DF3F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D16B00-B8D4-87C6-500F-4CA811D96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D7FD85-645B-753E-7D78-4D7A755B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67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CFD99-D5E9-7B1B-23F3-49773696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75FCA3-FC97-A7F7-F393-81501FC4B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F38FE0-7550-1987-F48D-C3E5EA797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3C1388-6D14-5A1D-069A-8C63FB4A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10479A-3DBD-739C-6DD1-0491B469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4EF72-A20D-E062-4EF7-ADA160B2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8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A7532-4125-5AEF-8AA9-FBF700A3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198D59-B556-4F70-02F5-BDB250280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6CE0CD-1998-F057-DCE0-1F0E423D9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F13895-A5F1-BFAC-12B1-6B05840A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1B7D4-3E5B-5788-F8B6-877DA6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09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289847-7738-8DBC-195F-07C6850C3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79675E-4237-9A15-45DB-62245BE70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31E16-B1C9-307F-93B1-D57AFA84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C9EE43-8559-8EF8-4521-BE3F375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602566-AA15-2F1F-8B65-C1E4EB7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61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8FFE81-F876-4943-93AB-D426A4AA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2DFFC-C21D-AD93-E693-4202C8E33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6DD25-9871-97B9-EB05-057EAEF55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E492B-C775-4CC0-9AB4-FD46A7AF5496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A4817-4B20-654F-C88F-D1E7FF4AD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DD61E-AB75-28CA-135F-B4492CDC2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AB18F-65E5-4E7D-A4B9-8E2104F9B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94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&#10;&#10;AI 生成的内容可能不正确。">
            <a:extLst>
              <a:ext uri="{FF2B5EF4-FFF2-40B4-BE49-F238E27FC236}">
                <a16:creationId xmlns:a16="http://schemas.microsoft.com/office/drawing/2014/main" id="{1E5C29C0-9EF2-E26C-45C1-D5434C17B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051303" cy="69260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222321-CB91-2A28-C631-869D52E5424C}"/>
              </a:ext>
            </a:extLst>
          </p:cNvPr>
          <p:cNvSpPr/>
          <p:nvPr/>
        </p:nvSpPr>
        <p:spPr>
          <a:xfrm>
            <a:off x="3997141" y="1361872"/>
            <a:ext cx="1810271" cy="189689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F3A03E56-F9DC-216C-48A0-16FB2E2D1A4C}"/>
              </a:ext>
            </a:extLst>
          </p:cNvPr>
          <p:cNvSpPr/>
          <p:nvPr/>
        </p:nvSpPr>
        <p:spPr>
          <a:xfrm>
            <a:off x="7722835" y="721467"/>
            <a:ext cx="2870586" cy="1685702"/>
          </a:xfrm>
          <a:prstGeom prst="wedgeRoundRectCallout">
            <a:avLst>
              <a:gd name="adj1" fmla="val -111968"/>
              <a:gd name="adj2" fmla="val 38399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64DBDF-93E9-D923-A57F-77B259B8589E}"/>
              </a:ext>
            </a:extLst>
          </p:cNvPr>
          <p:cNvSpPr txBox="1"/>
          <p:nvPr/>
        </p:nvSpPr>
        <p:spPr>
          <a:xfrm>
            <a:off x="7722835" y="652843"/>
            <a:ext cx="34681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Eras Bold ITC" panose="020B0907030504020204" pitchFamily="34" charset="0"/>
              </a:rPr>
              <a:t>Data recognition error</a:t>
            </a:r>
            <a:endParaRPr lang="zh-CN" altLang="en-US" sz="3600" dirty="0">
              <a:latin typeface="Eras Bold ITC" panose="020B0907030504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9AF50-DA6B-6B35-AC17-44FF7DE12E8B}"/>
              </a:ext>
            </a:extLst>
          </p:cNvPr>
          <p:cNvSpPr/>
          <p:nvPr/>
        </p:nvSpPr>
        <p:spPr>
          <a:xfrm>
            <a:off x="428017" y="5350212"/>
            <a:ext cx="3463047" cy="49611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47634EEE-18E3-EAE1-6A2E-151888A7897F}"/>
              </a:ext>
            </a:extLst>
          </p:cNvPr>
          <p:cNvSpPr/>
          <p:nvPr/>
        </p:nvSpPr>
        <p:spPr>
          <a:xfrm>
            <a:off x="7090537" y="5195101"/>
            <a:ext cx="3502884" cy="1063558"/>
          </a:xfrm>
          <a:prstGeom prst="wedgeRoundRectCallout">
            <a:avLst>
              <a:gd name="adj1" fmla="val -136632"/>
              <a:gd name="adj2" fmla="val -17929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352A0F-5199-8202-1E13-D958D3D8FC2F}"/>
              </a:ext>
            </a:extLst>
          </p:cNvPr>
          <p:cNvSpPr txBox="1"/>
          <p:nvPr/>
        </p:nvSpPr>
        <p:spPr>
          <a:xfrm>
            <a:off x="7203104" y="5350212"/>
            <a:ext cx="346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Eras Bold ITC" panose="020B0907030504020204" pitchFamily="34" charset="0"/>
              </a:rPr>
              <a:t>Hallucination</a:t>
            </a:r>
            <a:endParaRPr lang="zh-CN" altLang="en-US" sz="36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5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&#10;&#10;AI 生成的内容可能不正确。">
            <a:extLst>
              <a:ext uri="{FF2B5EF4-FFF2-40B4-BE49-F238E27FC236}">
                <a16:creationId xmlns:a16="http://schemas.microsoft.com/office/drawing/2014/main" id="{3AB40404-C68A-9C21-A0BB-CAC152318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4610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3517F8B-C09F-AAF3-5311-B3115ECDA2E5}"/>
              </a:ext>
            </a:extLst>
          </p:cNvPr>
          <p:cNvSpPr/>
          <p:nvPr/>
        </p:nvSpPr>
        <p:spPr>
          <a:xfrm>
            <a:off x="2907644" y="1371600"/>
            <a:ext cx="1100152" cy="291830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1727051-DD82-A8A9-7B2F-864A8DA25CE5}"/>
              </a:ext>
            </a:extLst>
          </p:cNvPr>
          <p:cNvSpPr/>
          <p:nvPr/>
        </p:nvSpPr>
        <p:spPr>
          <a:xfrm>
            <a:off x="6837618" y="0"/>
            <a:ext cx="3775258" cy="1316822"/>
          </a:xfrm>
          <a:prstGeom prst="wedgeRoundRectCallout">
            <a:avLst>
              <a:gd name="adj1" fmla="val -117766"/>
              <a:gd name="adj2" fmla="val 55625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7BA697-498C-3576-EC89-7135EF3F495B}"/>
              </a:ext>
            </a:extLst>
          </p:cNvPr>
          <p:cNvSpPr txBox="1"/>
          <p:nvPr/>
        </p:nvSpPr>
        <p:spPr>
          <a:xfrm>
            <a:off x="6837618" y="119802"/>
            <a:ext cx="36362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Eras Bold ITC" panose="020B0907030504020204" pitchFamily="34" charset="0"/>
              </a:rPr>
              <a:t>In fact, there are 15333 entries.</a:t>
            </a:r>
            <a:endParaRPr lang="zh-CN" altLang="en-US" sz="3200" dirty="0">
              <a:latin typeface="Eras Bold ITC" panose="020B0907030504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394386-E0B9-9CB5-E873-DD53F5965767}"/>
              </a:ext>
            </a:extLst>
          </p:cNvPr>
          <p:cNvSpPr/>
          <p:nvPr/>
        </p:nvSpPr>
        <p:spPr>
          <a:xfrm>
            <a:off x="190384" y="1663429"/>
            <a:ext cx="5519751" cy="48638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39155C67-B0D6-8146-9161-611B8A082F3A}"/>
              </a:ext>
            </a:extLst>
          </p:cNvPr>
          <p:cNvSpPr/>
          <p:nvPr/>
        </p:nvSpPr>
        <p:spPr>
          <a:xfrm>
            <a:off x="6837618" y="2856689"/>
            <a:ext cx="3502884" cy="1063558"/>
          </a:xfrm>
          <a:prstGeom prst="wedgeRoundRectCallout">
            <a:avLst>
              <a:gd name="adj1" fmla="val -89422"/>
              <a:gd name="adj2" fmla="val -100246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D7EBF2-02A1-8186-935B-57B092CBEA73}"/>
              </a:ext>
            </a:extLst>
          </p:cNvPr>
          <p:cNvSpPr txBox="1"/>
          <p:nvPr/>
        </p:nvSpPr>
        <p:spPr>
          <a:xfrm>
            <a:off x="6872363" y="3065302"/>
            <a:ext cx="346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Eras Bold ITC" panose="020B0907030504020204" pitchFamily="34" charset="0"/>
              </a:rPr>
              <a:t>Hallucination</a:t>
            </a:r>
            <a:endParaRPr lang="zh-CN" altLang="en-US" sz="3600" dirty="0">
              <a:latin typeface="Eras Bold ITC" panose="020B0907030504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CDEE07-6D46-494C-31E3-CBC694A1B3AA}"/>
              </a:ext>
            </a:extLst>
          </p:cNvPr>
          <p:cNvSpPr/>
          <p:nvPr/>
        </p:nvSpPr>
        <p:spPr>
          <a:xfrm>
            <a:off x="190384" y="4212076"/>
            <a:ext cx="5801401" cy="28210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071B506-67B0-A6E4-73ED-B8EE33003C0D}"/>
              </a:ext>
            </a:extLst>
          </p:cNvPr>
          <p:cNvSpPr/>
          <p:nvPr/>
        </p:nvSpPr>
        <p:spPr>
          <a:xfrm>
            <a:off x="7398580" y="5061625"/>
            <a:ext cx="3502884" cy="1063558"/>
          </a:xfrm>
          <a:prstGeom prst="wedgeRoundRectCallout">
            <a:avLst>
              <a:gd name="adj1" fmla="val -89422"/>
              <a:gd name="adj2" fmla="val -100246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64E7D7-9EF3-5896-86D4-835C97FBF668}"/>
              </a:ext>
            </a:extLst>
          </p:cNvPr>
          <p:cNvSpPr txBox="1"/>
          <p:nvPr/>
        </p:nvSpPr>
        <p:spPr>
          <a:xfrm>
            <a:off x="7331884" y="5116350"/>
            <a:ext cx="36362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Eras Bold ITC" panose="020B0907030504020204" pitchFamily="34" charset="0"/>
              </a:rPr>
              <a:t>Error: Actually, it is capacity.</a:t>
            </a:r>
            <a:endParaRPr lang="zh-CN" altLang="en-US" sz="28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56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694BDC43-F842-2B88-13D1-67A62DD09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9319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A175161-7B1D-5822-F5B7-4AE9E0F6A4D3}"/>
              </a:ext>
            </a:extLst>
          </p:cNvPr>
          <p:cNvSpPr/>
          <p:nvPr/>
        </p:nvSpPr>
        <p:spPr>
          <a:xfrm>
            <a:off x="1788963" y="5710136"/>
            <a:ext cx="1372526" cy="2723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28A0BF8B-7444-F37E-3A8D-42A328A4B042}"/>
              </a:ext>
            </a:extLst>
          </p:cNvPr>
          <p:cNvSpPr/>
          <p:nvPr/>
        </p:nvSpPr>
        <p:spPr>
          <a:xfrm>
            <a:off x="6341036" y="2736502"/>
            <a:ext cx="3975371" cy="1384996"/>
          </a:xfrm>
          <a:prstGeom prst="wedgeRoundRectCallout">
            <a:avLst>
              <a:gd name="adj1" fmla="val -129809"/>
              <a:gd name="adj2" fmla="val 168667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B1EA88-F50B-442D-8672-73FF10A71125}"/>
              </a:ext>
            </a:extLst>
          </p:cNvPr>
          <p:cNvSpPr txBox="1"/>
          <p:nvPr/>
        </p:nvSpPr>
        <p:spPr>
          <a:xfrm>
            <a:off x="6341037" y="2736502"/>
            <a:ext cx="39753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Eras Bold ITC" panose="020B0907030504020204" pitchFamily="34" charset="0"/>
              </a:rPr>
              <a:t>Error: Actually, it is Cambridge Structural Database.</a:t>
            </a:r>
            <a:endParaRPr lang="zh-CN" altLang="zh-CN" sz="28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2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&#10;&#10;AI 生成的内容可能不正确。">
            <a:extLst>
              <a:ext uri="{FF2B5EF4-FFF2-40B4-BE49-F238E27FC236}">
                <a16:creationId xmlns:a16="http://schemas.microsoft.com/office/drawing/2014/main" id="{FFAD2EF5-058C-3BEE-2182-9C4DD1A3E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707063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1E2C303-A3F4-877F-FFEE-6D95681913FA}"/>
              </a:ext>
            </a:extLst>
          </p:cNvPr>
          <p:cNvSpPr/>
          <p:nvPr/>
        </p:nvSpPr>
        <p:spPr>
          <a:xfrm>
            <a:off x="4027251" y="4173166"/>
            <a:ext cx="1605064" cy="27237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C2551304-776E-3A19-E537-17159D028196}"/>
              </a:ext>
            </a:extLst>
          </p:cNvPr>
          <p:cNvSpPr/>
          <p:nvPr/>
        </p:nvSpPr>
        <p:spPr>
          <a:xfrm>
            <a:off x="7333729" y="4445540"/>
            <a:ext cx="2705216" cy="1316822"/>
          </a:xfrm>
          <a:prstGeom prst="wedgeRoundRectCallout">
            <a:avLst>
              <a:gd name="adj1" fmla="val -116929"/>
              <a:gd name="adj2" fmla="val -61093"/>
              <a:gd name="adj3" fmla="val 16667"/>
            </a:avLst>
          </a:prstGeom>
          <a:gradFill flip="none" rotWithShape="1">
            <a:gsLst>
              <a:gs pos="40000">
                <a:schemeClr val="accent1">
                  <a:lumMod val="5000"/>
                  <a:lumOff val="95000"/>
                </a:schemeClr>
              </a:gs>
              <a:gs pos="57000">
                <a:schemeClr val="tx2">
                  <a:lumMod val="10000"/>
                  <a:lumOff val="90000"/>
                </a:schemeClr>
              </a:gs>
              <a:gs pos="70000">
                <a:schemeClr val="accent4">
                  <a:lumMod val="20000"/>
                  <a:lumOff val="80000"/>
                </a:schemeClr>
              </a:gs>
              <a:gs pos="100000">
                <a:schemeClr val="accent4"/>
              </a:gs>
            </a:gsLst>
            <a:lin ang="5400000" scaled="1"/>
            <a:tileRect/>
          </a:gradFill>
          <a:ln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EBC55D-EDCA-7D07-44E9-0C2F2421AB83}"/>
              </a:ext>
            </a:extLst>
          </p:cNvPr>
          <p:cNvSpPr txBox="1"/>
          <p:nvPr/>
        </p:nvSpPr>
        <p:spPr>
          <a:xfrm>
            <a:off x="7487288" y="4445540"/>
            <a:ext cx="3468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Eras Bold ITC" panose="020B0907030504020204" pitchFamily="34" charset="0"/>
              </a:rPr>
              <a:t>Incorrect inference</a:t>
            </a:r>
            <a:endParaRPr lang="zh-CN" altLang="en-US" sz="3600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01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</Words>
  <Application>Microsoft Office PowerPoint</Application>
  <PresentationFormat>宽屏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Eras Bold ITC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zk z</dc:creator>
  <cp:lastModifiedBy>zk z</cp:lastModifiedBy>
  <cp:revision>24</cp:revision>
  <dcterms:created xsi:type="dcterms:W3CDTF">2026-04-02T06:28:33Z</dcterms:created>
  <dcterms:modified xsi:type="dcterms:W3CDTF">2026-07-14T02:10:18Z</dcterms:modified>
</cp:coreProperties>
</file>